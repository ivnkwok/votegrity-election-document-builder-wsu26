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3"/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Medium"/>
      <p:regular r:id="rId25"/>
      <p:bold r:id="rId26"/>
      <p:italic r:id="rId27"/>
      <p:boldItalic r:id="rId28"/>
    </p:embeddedFont>
    <p:embeddedFont>
      <p:font typeface="Libre Baskerville"/>
      <p:regular r:id="rId29"/>
      <p:bold r:id="rId30"/>
      <p: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Baskerville-italic.fntdata"/><Relationship Id="rId30" Type="http://schemas.openxmlformats.org/officeDocument/2006/relationships/font" Target="fonts/LibreBaskerville-bold.fntdata"/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26" Type="http://schemas.openxmlformats.org/officeDocument/2006/relationships/font" Target="fonts/RobotoMedium-bold.fntdata"/><Relationship Id="rId25" Type="http://schemas.openxmlformats.org/officeDocument/2006/relationships/font" Target="fonts/RobotoMedium-regular.fntdata"/><Relationship Id="rId28" Type="http://schemas.openxmlformats.org/officeDocument/2006/relationships/font" Target="fonts/RobotoMedium-boldItalic.fntdata"/><Relationship Id="rId27" Type="http://schemas.openxmlformats.org/officeDocument/2006/relationships/font" Target="fonts/RobotoMedium-italic.fntdata"/><Relationship Id="rId29" Type="http://schemas.openxmlformats.org/officeDocument/2006/relationships/font" Target="fonts/LibreBaskervill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06b3a2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a06b3a2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06b3a2bc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a06b3a2bc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06b3a2bc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06b3a2b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06b3a2bc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a06b3a2bc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06b3a2bc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a06b3a2bc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06b3a2bc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06b3a2bc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06b3a2bc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a06b3a2bc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06b3a2bc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a06b3a2bc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06b3a2bc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a06b3a2bc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06b3a2bcf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a06b3a2bc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a06b3a2bc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a06b3a2bc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a06b3a2bcf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a06b3a2bcf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a06b3a2bcf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a06b3a2bcf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06b3a2bcf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a06b3a2bcf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06b3a2bcf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a06b3a2bcf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1" name="Google Shape;191;p36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99" name="Google Shape;199;p3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8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7" name="Google Shape;207;p38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2" name="Google Shape;212;p38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13" name="Google Shape;21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6" name="Google Shape;216;p38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7" name="Google Shape;217;p38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8" name="Google Shape;218;p38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38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5" name="Google Shape;225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9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5" name="Google Shape;235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" name="Google Shape;238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0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41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5" name="Google Shape;265;p41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67" name="Google Shape;267;p4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7" name="Google Shape;287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1" name="Google Shape;291;p43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3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3" name="Google Shape;303;p4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320" name="Google Shape;320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8" name="Google Shape;328;p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0" name="Google Shape;330;p46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46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34" name="Google Shape;334;p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47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46" name="Google Shape;346;p4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48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7" name="Google Shape;357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9" name="Google Shape;359;p48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0" name="Google Shape;360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65" name="Google Shape;365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5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0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78" name="Google Shape;378;p5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1" name="Google Shape;381;p5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2" name="Google Shape;382;p5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5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4" name="Google Shape;384;p5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5" name="Google Shape;385;p5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6" name="Google Shape;386;p5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8" name="Google Shape;388;p5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5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0" name="Google Shape;390;p5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1" name="Google Shape;391;p5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2" name="Google Shape;392;p5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5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0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00" name="Google Shape;400;p50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02" name="Google Shape;402;p50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1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409" name="Google Shape;409;p5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51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2" name="Google Shape;412;p51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1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1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1" name="Google Shape;421;p51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2" name="Google Shape;422;p51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3" name="Google Shape;423;p51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4" name="Google Shape;424;p51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30" name="Google Shape;430;p5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33" name="Google Shape;433;p52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2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2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2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2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9" name="Google Shape;439;p52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52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52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2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52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4" name="Google Shape;444;p52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5" name="Google Shape;445;p52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52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8" name="Google Shape;448;p52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52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0" name="Google Shape;450;p52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1" name="Google Shape;451;p52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52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5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58" name="Google Shape;458;p5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3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53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4" name="Google Shape;464;p53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53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6" name="Google Shape;466;p53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7" name="Google Shape;467;p53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53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9" name="Google Shape;469;p53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3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3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53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3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53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53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6" name="Google Shape;476;p5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4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83" name="Google Shape;483;p5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5" name="Google Shape;485;p5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6" name="Google Shape;486;p54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4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96" name="Google Shape;496;p5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5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9" name="Google Shape;499;p55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5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5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5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5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4" name="Google Shape;504;p5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6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56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11" name="Google Shape;511;p5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5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9" name="Google Shape;519;p57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2" name="Google Shape;522;p5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5" name="Google Shape;525;p5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8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2" name="Google Shape;532;p59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59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9" name="Google Shape;539;p59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59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0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45" name="Google Shape;545;p6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6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48" name="Google Shape;548;p60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60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0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60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3" name="Google Shape;553;p60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5" name="Google Shape;555;p60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7" name="Google Shape;557;p60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6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6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5" name="Google Shape;565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6" name="Google Shape;566;p61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1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0" name="Google Shape;570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6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9.jp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2" title="votegrity-logo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4716"/>
          <a:stretch/>
        </p:blipFill>
        <p:spPr>
          <a:xfrm>
            <a:off x="2232150" y="235950"/>
            <a:ext cx="4679700" cy="2229600"/>
          </a:xfrm>
          <a:prstGeom prst="roundRect">
            <a:avLst>
              <a:gd fmla="val 16667" name="adj"/>
            </a:avLst>
          </a:prstGeom>
        </p:spPr>
      </p:pic>
      <p:sp>
        <p:nvSpPr>
          <p:cNvPr id="580" name="Google Shape;580;p62"/>
          <p:cNvSpPr txBox="1"/>
          <p:nvPr>
            <p:ph type="title"/>
          </p:nvPr>
        </p:nvSpPr>
        <p:spPr>
          <a:xfrm>
            <a:off x="125700" y="2649900"/>
            <a:ext cx="60402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2 Overview -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Goals, Progress, and Limitations</a:t>
            </a:r>
            <a:endParaRPr/>
          </a:p>
        </p:txBody>
      </p:sp>
      <p:sp>
        <p:nvSpPr>
          <p:cNvPr id="581" name="Google Shape;581;p62"/>
          <p:cNvSpPr txBox="1"/>
          <p:nvPr>
            <p:ph idx="1" type="subTitle"/>
          </p:nvPr>
        </p:nvSpPr>
        <p:spPr>
          <a:xfrm>
            <a:off x="6112175" y="2649900"/>
            <a:ext cx="29064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12-FA25-SP26-VI-WEB</a:t>
            </a:r>
            <a:endParaRPr b="0"/>
          </a:p>
        </p:txBody>
      </p:sp>
      <p:sp>
        <p:nvSpPr>
          <p:cNvPr id="582" name="Google Shape;582;p62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 - Sponsored by: Votegrity</a:t>
            </a:r>
            <a:endParaRPr/>
          </a:p>
        </p:txBody>
      </p:sp>
      <p:sp>
        <p:nvSpPr>
          <p:cNvPr id="583" name="Google Shape;583;p62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November, </a:t>
            </a: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3"/>
          <p:cNvSpPr txBox="1"/>
          <p:nvPr>
            <p:ph idx="1" type="subTitle"/>
          </p:nvPr>
        </p:nvSpPr>
        <p:spPr>
          <a:xfrm>
            <a:off x="251400" y="2512475"/>
            <a:ext cx="34110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a Web-Based Election Document Builder</a:t>
            </a:r>
            <a:endParaRPr/>
          </a:p>
        </p:txBody>
      </p:sp>
      <p:sp>
        <p:nvSpPr>
          <p:cNvPr id="589" name="Google Shape;589;p63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Current workflow for Votegrity is inefficient (Microsoft Word)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Creating a solution to the problem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Drag-and-Drop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Intuitive design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Template starting point</a:t>
            </a:r>
            <a:endParaRPr/>
          </a:p>
        </p:txBody>
      </p:sp>
      <p:sp>
        <p:nvSpPr>
          <p:cNvPr id="590" name="Google Shape;590;p63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pic>
        <p:nvPicPr>
          <p:cNvPr id="591" name="Google Shape;591;p63" title="wordogimag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7216" r="27216" t="0"/>
          <a:stretch/>
        </p:blipFill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</p:spPr>
      </p:pic>
      <p:sp>
        <p:nvSpPr>
          <p:cNvPr id="592" name="Google Shape;592;p63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</a:t>
            </a:r>
            <a:r>
              <a:rPr lang="en"/>
              <a:t>12-FA25-SP26-VI-WEB</a:t>
            </a:r>
            <a:endParaRPr/>
          </a:p>
        </p:txBody>
      </p:sp>
      <p:sp>
        <p:nvSpPr>
          <p:cNvPr id="593" name="Google Shape;593;p63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594" name="Google Shape;594;p6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64" title="danielcalle_pfp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796" r="10796" t="0"/>
          <a:stretch/>
        </p:blipFill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</p:spPr>
      </p:pic>
      <p:sp>
        <p:nvSpPr>
          <p:cNvPr id="600" name="Google Shape;600;p64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4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Kwok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4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Tieng</a:t>
            </a:r>
            <a:endParaRPr/>
          </a:p>
        </p:txBody>
      </p:sp>
      <p:sp>
        <p:nvSpPr>
          <p:cNvPr id="603" name="Google Shape;603;p64"/>
          <p:cNvSpPr txBox="1"/>
          <p:nvPr>
            <p:ph idx="1" type="subTitle"/>
          </p:nvPr>
        </p:nvSpPr>
        <p:spPr>
          <a:xfrm>
            <a:off x="251400" y="2220644"/>
            <a:ext cx="14685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Lead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Full-stack Developer</a:t>
            </a:r>
            <a:endParaRPr/>
          </a:p>
        </p:txBody>
      </p:sp>
      <p:sp>
        <p:nvSpPr>
          <p:cNvPr id="604" name="Google Shape;604;p64"/>
          <p:cNvSpPr txBox="1"/>
          <p:nvPr>
            <p:ph idx="5" type="subTitle"/>
          </p:nvPr>
        </p:nvSpPr>
        <p:spPr>
          <a:xfrm>
            <a:off x="1860124" y="2220644"/>
            <a:ext cx="14538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 Developer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(Drag-and-Drop)</a:t>
            </a:r>
            <a:endParaRPr/>
          </a:p>
        </p:txBody>
      </p:sp>
      <p:sp>
        <p:nvSpPr>
          <p:cNvPr id="605" name="Google Shape;605;p64"/>
          <p:cNvSpPr txBox="1"/>
          <p:nvPr>
            <p:ph idx="6" type="subTitle"/>
          </p:nvPr>
        </p:nvSpPr>
        <p:spPr>
          <a:xfrm>
            <a:off x="3439600" y="2211626"/>
            <a:ext cx="14685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Developer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(Saving, Loading, DB)</a:t>
            </a:r>
            <a:endParaRPr/>
          </a:p>
        </p:txBody>
      </p:sp>
      <p:sp>
        <p:nvSpPr>
          <p:cNvPr id="606" name="Google Shape;606;p64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</a:t>
            </a:r>
            <a:r>
              <a:rPr lang="en"/>
              <a:t>12-FA25-SP26-VI-WEB</a:t>
            </a:r>
            <a:endParaRPr/>
          </a:p>
        </p:txBody>
      </p:sp>
      <p:sp>
        <p:nvSpPr>
          <p:cNvPr id="607" name="Google Shape;607;p64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&amp; Responsibilities</a:t>
            </a:r>
            <a:endParaRPr/>
          </a:p>
        </p:txBody>
      </p:sp>
      <p:pic>
        <p:nvPicPr>
          <p:cNvPr id="608" name="Google Shape;608;p64" title="1757534454029.jpg"/>
          <p:cNvPicPr preferRelativeResize="0"/>
          <p:nvPr>
            <p:ph idx="9" type="pic"/>
          </p:nvPr>
        </p:nvPicPr>
        <p:blipFill rotWithShape="1">
          <a:blip r:embed="rId4">
            <a:alphaModFix/>
          </a:blip>
          <a:srcRect b="0" l="10796" r="10796" t="0"/>
          <a:stretch/>
        </p:blipFill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</p:spPr>
      </p:pic>
      <p:pic>
        <p:nvPicPr>
          <p:cNvPr id="609" name="Google Shape;609;p64" title="lancetieng_pfp.png"/>
          <p:cNvPicPr preferRelativeResize="0"/>
          <p:nvPr>
            <p:ph idx="13" type="pic"/>
          </p:nvPr>
        </p:nvPicPr>
        <p:blipFill rotWithShape="1">
          <a:blip r:embed="rId5">
            <a:alphaModFix/>
          </a:blip>
          <a:srcRect b="0" l="10796" r="10796" t="0"/>
          <a:stretch/>
        </p:blipFill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</p:spPr>
      </p:pic>
      <p:sp>
        <p:nvSpPr>
          <p:cNvPr id="610" name="Google Shape;610;p64"/>
          <p:cNvSpPr txBox="1"/>
          <p:nvPr>
            <p:ph idx="20" type="title"/>
          </p:nvPr>
        </p:nvSpPr>
        <p:spPr>
          <a:xfrm>
            <a:off x="125700" y="134475"/>
            <a:ext cx="8636400" cy="12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611" name="Google Shape;611;p6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5"/>
          <p:cNvSpPr txBox="1"/>
          <p:nvPr>
            <p:ph type="title"/>
          </p:nvPr>
        </p:nvSpPr>
        <p:spPr>
          <a:xfrm>
            <a:off x="125700" y="125600"/>
            <a:ext cx="87681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17" name="Google Shape;617;p65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 up on report sections</a:t>
            </a:r>
            <a:endParaRPr/>
          </a:p>
        </p:txBody>
      </p:sp>
      <p:sp>
        <p:nvSpPr>
          <p:cNvPr id="618" name="Google Shape;618;p65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Set-up dev environment </a:t>
            </a:r>
            <a:endParaRPr/>
          </a:p>
        </p:txBody>
      </p:sp>
      <p:sp>
        <p:nvSpPr>
          <p:cNvPr id="619" name="Google Shape;619;p65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 first key features</a:t>
            </a:r>
            <a:endParaRPr/>
          </a:p>
        </p:txBody>
      </p:sp>
      <p:sp>
        <p:nvSpPr>
          <p:cNvPr id="620" name="Google Shape;620;p65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client feedback</a:t>
            </a:r>
            <a:endParaRPr/>
          </a:p>
        </p:txBody>
      </p:sp>
      <p:sp>
        <p:nvSpPr>
          <p:cNvPr id="621" name="Google Shape;621;p65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development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6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627" name="Google Shape;627;p6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Objectives</a:t>
            </a:r>
            <a:endParaRPr/>
          </a:p>
        </p:txBody>
      </p:sp>
      <p:sp>
        <p:nvSpPr>
          <p:cNvPr id="628" name="Google Shape;628;p66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Finalize FRs, NFRs, and User Stories</a:t>
            </a:r>
            <a:endParaRPr/>
          </a:p>
        </p:txBody>
      </p:sp>
      <p:sp>
        <p:nvSpPr>
          <p:cNvPr id="629" name="Google Shape;629;p66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common dev environment</a:t>
            </a:r>
            <a:endParaRPr/>
          </a:p>
        </p:txBody>
      </p:sp>
      <p:sp>
        <p:nvSpPr>
          <p:cNvPr id="630" name="Google Shape;630;p66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Communicate with client and understand key features</a:t>
            </a:r>
            <a:endParaRPr/>
          </a:p>
        </p:txBody>
      </p:sp>
      <p:sp>
        <p:nvSpPr>
          <p:cNvPr id="631" name="Google Shape;631;p66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developing features/modifying to clients demands</a:t>
            </a:r>
            <a:endParaRPr/>
          </a:p>
        </p:txBody>
      </p:sp>
      <p:sp>
        <p:nvSpPr>
          <p:cNvPr id="632" name="Google Shape;632;p66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client feedback</a:t>
            </a:r>
            <a:endParaRPr/>
          </a:p>
        </p:txBody>
      </p:sp>
      <p:sp>
        <p:nvSpPr>
          <p:cNvPr id="633" name="Google Shape;633;p66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prototypes of key features</a:t>
            </a:r>
            <a:endParaRPr/>
          </a:p>
        </p:txBody>
      </p:sp>
      <p:sp>
        <p:nvSpPr>
          <p:cNvPr id="634" name="Google Shape;634;p66"/>
          <p:cNvSpPr txBox="1"/>
          <p:nvPr>
            <p:ph type="title"/>
          </p:nvPr>
        </p:nvSpPr>
        <p:spPr>
          <a:xfrm>
            <a:off x="2583275" y="1021700"/>
            <a:ext cx="39996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</a:t>
            </a:r>
            <a:r>
              <a:rPr lang="en"/>
              <a:t>Objectives</a:t>
            </a:r>
            <a:endParaRPr/>
          </a:p>
        </p:txBody>
      </p:sp>
      <p:sp>
        <p:nvSpPr>
          <p:cNvPr id="635" name="Google Shape;635;p6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67" title="notice_templat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5031" l="0" r="0" t="0"/>
          <a:stretch/>
        </p:blipFill>
        <p:spPr>
          <a:xfrm>
            <a:off x="4646900" y="918475"/>
            <a:ext cx="4410576" cy="3306550"/>
          </a:xfrm>
          <a:prstGeom prst="rect">
            <a:avLst/>
          </a:prstGeom>
        </p:spPr>
      </p:pic>
      <p:sp>
        <p:nvSpPr>
          <p:cNvPr id="641" name="Google Shape;641;p67"/>
          <p:cNvSpPr/>
          <p:nvPr/>
        </p:nvSpPr>
        <p:spPr>
          <a:xfrm>
            <a:off x="845376" y="0"/>
            <a:ext cx="3726600" cy="51435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42" name="Google Shape;642;p67"/>
          <p:cNvSpPr/>
          <p:nvPr/>
        </p:nvSpPr>
        <p:spPr>
          <a:xfrm>
            <a:off x="-5550" y="0"/>
            <a:ext cx="4248000" cy="5143500"/>
          </a:xfrm>
          <a:prstGeom prst="roundRect">
            <a:avLst>
              <a:gd fmla="val 1151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643" name="Google Shape;643;p67"/>
          <p:cNvSpPr txBox="1"/>
          <p:nvPr>
            <p:ph type="title"/>
          </p:nvPr>
        </p:nvSpPr>
        <p:spPr>
          <a:xfrm>
            <a:off x="125700" y="134475"/>
            <a:ext cx="3900600" cy="2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Layout</a:t>
            </a:r>
            <a:endParaRPr/>
          </a:p>
        </p:txBody>
      </p:sp>
      <p:sp>
        <p:nvSpPr>
          <p:cNvPr id="644" name="Google Shape;644;p67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During a meeting with the client, we were able to go over what the web-app should look like at a high level, similar to a Figma wireframe.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8"/>
          <p:cNvSpPr txBox="1"/>
          <p:nvPr>
            <p:ph type="title"/>
          </p:nvPr>
        </p:nvSpPr>
        <p:spPr>
          <a:xfrm>
            <a:off x="2414450" y="658700"/>
            <a:ext cx="43572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Overview</a:t>
            </a:r>
            <a:endParaRPr/>
          </a:p>
        </p:txBody>
      </p:sp>
      <p:sp>
        <p:nvSpPr>
          <p:cNvPr id="650" name="Google Shape;650;p68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651" name="Google Shape;651;p68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Overview</a:t>
            </a:r>
            <a:endParaRPr/>
          </a:p>
        </p:txBody>
      </p:sp>
      <p:sp>
        <p:nvSpPr>
          <p:cNvPr id="652" name="Google Shape;652;p6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3" name="Google Shape;653;p68" title="React-Emblem.png"/>
          <p:cNvPicPr preferRelativeResize="0"/>
          <p:nvPr/>
        </p:nvPicPr>
        <p:blipFill rotWithShape="1">
          <a:blip r:embed="rId3">
            <a:alphaModFix/>
          </a:blip>
          <a:srcRect b="0" l="18071" r="18250" t="0"/>
          <a:stretch/>
        </p:blipFill>
        <p:spPr>
          <a:xfrm>
            <a:off x="503325" y="1725573"/>
            <a:ext cx="1494098" cy="131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68" title="Vitejs-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000" y="1818175"/>
            <a:ext cx="1339175" cy="1319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8" title="Tailwind_CSS_Logo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4450" y="1635725"/>
            <a:ext cx="1396500" cy="853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68" title="shadcn-ui-logo-png_seeklogo-51978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5750" y="1486450"/>
            <a:ext cx="1152275" cy="11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68" title="dndkit_logo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90400" y="1486450"/>
            <a:ext cx="1152275" cy="115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68" title="logo-fin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2800" y="3045415"/>
            <a:ext cx="2053800" cy="829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68" title="jspdf_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3288" y="3158628"/>
            <a:ext cx="1804025" cy="603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9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keeping track of features waiting to be assigned, in progress, and completed, we have utilized a Kanban board linked to our GitHub repository. </a:t>
            </a:r>
            <a:endParaRPr/>
          </a:p>
        </p:txBody>
      </p:sp>
      <p:sp>
        <p:nvSpPr>
          <p:cNvPr id="665" name="Google Shape;665;p69"/>
          <p:cNvSpPr txBox="1"/>
          <p:nvPr>
            <p:ph idx="1" type="subTitle"/>
          </p:nvPr>
        </p:nvSpPr>
        <p:spPr>
          <a:xfrm>
            <a:off x="125700" y="125600"/>
            <a:ext cx="4264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</p:txBody>
      </p:sp>
      <p:sp>
        <p:nvSpPr>
          <p:cNvPr id="666" name="Google Shape;666;p69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69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</p:txBody>
      </p:sp>
      <p:sp>
        <p:nvSpPr>
          <p:cNvPr id="668" name="Google Shape;668;p6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9" name="Google Shape;66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88" y="1410143"/>
            <a:ext cx="8481424" cy="3291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75" name="Google Shape;675;p70"/>
          <p:cNvSpPr/>
          <p:nvPr/>
        </p:nvSpPr>
        <p:spPr>
          <a:xfrm>
            <a:off x="4049725" y="2487675"/>
            <a:ext cx="1052700" cy="204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70"/>
          <p:cNvSpPr/>
          <p:nvPr/>
        </p:nvSpPr>
        <p:spPr>
          <a:xfrm>
            <a:off x="5278752" y="1826793"/>
            <a:ext cx="1052700" cy="2705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70"/>
          <p:cNvSpPr/>
          <p:nvPr/>
        </p:nvSpPr>
        <p:spPr>
          <a:xfrm>
            <a:off x="6507730" y="1244539"/>
            <a:ext cx="1052700" cy="32874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70"/>
          <p:cNvSpPr txBox="1"/>
          <p:nvPr/>
        </p:nvSpPr>
        <p:spPr>
          <a:xfrm>
            <a:off x="4049775" y="2566035"/>
            <a:ext cx="10527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courses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70"/>
          <p:cNvSpPr/>
          <p:nvPr/>
        </p:nvSpPr>
        <p:spPr>
          <a:xfrm>
            <a:off x="7736750" y="508775"/>
            <a:ext cx="1052700" cy="4023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70"/>
          <p:cNvSpPr txBox="1"/>
          <p:nvPr/>
        </p:nvSpPr>
        <p:spPr>
          <a:xfrm>
            <a:off x="5278750" y="1903000"/>
            <a:ext cx="1052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concepts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70"/>
          <p:cNvSpPr txBox="1"/>
          <p:nvPr/>
        </p:nvSpPr>
        <p:spPr>
          <a:xfrm>
            <a:off x="6507725" y="1320750"/>
            <a:ext cx="1052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Delayed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70"/>
          <p:cNvSpPr txBox="1"/>
          <p:nvPr/>
        </p:nvSpPr>
        <p:spPr>
          <a:xfrm>
            <a:off x="7736750" y="584975"/>
            <a:ext cx="10527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7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684" name="Google Shape;684;p7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85" name="Google Shape;685;p7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6" name="Google Shape;68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00" y="2253825"/>
            <a:ext cx="3417300" cy="227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1"/>
          <p:cNvSpPr txBox="1"/>
          <p:nvPr>
            <p:ph idx="1" type="body"/>
          </p:nvPr>
        </p:nvSpPr>
        <p:spPr>
          <a:xfrm>
            <a:off x="5218050" y="369895"/>
            <a:ext cx="3489300" cy="40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bre Baskerville"/>
              <a:buChar char="●"/>
            </a:pPr>
            <a:r>
              <a:rPr lang="en"/>
              <a:t>Client communication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Meeting frequency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Mutual understanding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"/>
              <a:t>Meeting expectations</a:t>
            </a:r>
            <a:br>
              <a:rPr lang="en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Prototyping features</a:t>
            </a:r>
            <a:br>
              <a:rPr lang="en"/>
            </a:b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/>
              <a:t>Increased productivity in relation to last sprint</a:t>
            </a:r>
            <a:endParaRPr/>
          </a:p>
        </p:txBody>
      </p:sp>
      <p:sp>
        <p:nvSpPr>
          <p:cNvPr id="692" name="Google Shape;692;p71"/>
          <p:cNvSpPr txBox="1"/>
          <p:nvPr>
            <p:ph type="title"/>
          </p:nvPr>
        </p:nvSpPr>
        <p:spPr>
          <a:xfrm>
            <a:off x="125700" y="125600"/>
            <a:ext cx="45801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went</a:t>
            </a:r>
            <a:endParaRPr/>
          </a:p>
        </p:txBody>
      </p:sp>
      <p:sp>
        <p:nvSpPr>
          <p:cNvPr id="693" name="Google Shape;693;p71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71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71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71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71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698" name="Google Shape;698;p71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went well?</a:t>
            </a:r>
            <a:endParaRPr/>
          </a:p>
        </p:txBody>
      </p:sp>
      <p:sp>
        <p:nvSpPr>
          <p:cNvPr id="699" name="Google Shape;699;p7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0" name="Google Shape;700;p71"/>
          <p:cNvSpPr/>
          <p:nvPr/>
        </p:nvSpPr>
        <p:spPr>
          <a:xfrm>
            <a:off x="125700" y="1057825"/>
            <a:ext cx="2169900" cy="8907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Well?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2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72"/>
          <p:cNvSpPr txBox="1"/>
          <p:nvPr>
            <p:ph idx="3" type="body"/>
          </p:nvPr>
        </p:nvSpPr>
        <p:spPr>
          <a:xfrm>
            <a:off x="5218050" y="400209"/>
            <a:ext cx="3489300" cy="40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Report writing and documentation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Development speed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Testing</a:t>
            </a:r>
            <a:endParaRPr/>
          </a:p>
        </p:txBody>
      </p:sp>
      <p:sp>
        <p:nvSpPr>
          <p:cNvPr id="707" name="Google Shape;707;p72"/>
          <p:cNvSpPr txBox="1"/>
          <p:nvPr>
            <p:ph idx="4294967295" type="title"/>
          </p:nvPr>
        </p:nvSpPr>
        <p:spPr>
          <a:xfrm>
            <a:off x="125700" y="125600"/>
            <a:ext cx="4580100" cy="29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could be </a:t>
            </a:r>
            <a:endParaRPr/>
          </a:p>
        </p:txBody>
      </p:sp>
      <p:sp>
        <p:nvSpPr>
          <p:cNvPr id="708" name="Google Shape;708;p72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72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72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7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712" name="Google Shape;712;p7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could be better?</a:t>
            </a:r>
            <a:endParaRPr/>
          </a:p>
        </p:txBody>
      </p:sp>
      <p:sp>
        <p:nvSpPr>
          <p:cNvPr id="713" name="Google Shape;713;p7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4" name="Google Shape;714;p72"/>
          <p:cNvSpPr/>
          <p:nvPr/>
        </p:nvSpPr>
        <p:spPr>
          <a:xfrm>
            <a:off x="1269700" y="1057825"/>
            <a:ext cx="2730300" cy="8907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Better?</a:t>
            </a:r>
            <a:endParaRPr sz="5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3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Stop waiting for direct assignments</a:t>
            </a:r>
            <a:endParaRPr sz="2000"/>
          </a:p>
        </p:txBody>
      </p:sp>
      <p:sp>
        <p:nvSpPr>
          <p:cNvPr id="720" name="Google Shape;720;p73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Start being more proactive in development and report writing</a:t>
            </a:r>
            <a:endParaRPr sz="2000"/>
          </a:p>
        </p:txBody>
      </p:sp>
      <p:sp>
        <p:nvSpPr>
          <p:cNvPr id="721" name="Google Shape;721;p73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Continue communicating with the client and meeting expectations</a:t>
            </a:r>
            <a:endParaRPr sz="2000"/>
          </a:p>
        </p:txBody>
      </p:sp>
      <p:sp>
        <p:nvSpPr>
          <p:cNvPr id="722" name="Google Shape;722;p73"/>
          <p:cNvSpPr txBox="1"/>
          <p:nvPr>
            <p:ph type="title"/>
          </p:nvPr>
        </p:nvSpPr>
        <p:spPr>
          <a:xfrm>
            <a:off x="125600" y="125600"/>
            <a:ext cx="4908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</a:t>
            </a:r>
            <a:endParaRPr/>
          </a:p>
        </p:txBody>
      </p:sp>
      <p:sp>
        <p:nvSpPr>
          <p:cNvPr id="723" name="Google Shape;723;p7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724" name="Google Shape;724;p7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 to take for next sprint</a:t>
            </a:r>
            <a:endParaRPr/>
          </a:p>
        </p:txBody>
      </p:sp>
      <p:sp>
        <p:nvSpPr>
          <p:cNvPr id="725" name="Google Shape;725;p73"/>
          <p:cNvSpPr txBox="1"/>
          <p:nvPr>
            <p:ph idx="7" type="body"/>
          </p:nvPr>
        </p:nvSpPr>
        <p:spPr>
          <a:xfrm>
            <a:off x="5831000" y="773325"/>
            <a:ext cx="31872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forward to our next sprint, there are certain things we need to stop doing, certain things to start doing, and certain things we should continue doing.</a:t>
            </a:r>
            <a:endParaRPr/>
          </a:p>
        </p:txBody>
      </p:sp>
      <p:sp>
        <p:nvSpPr>
          <p:cNvPr id="726" name="Google Shape;726;p73"/>
          <p:cNvSpPr txBox="1"/>
          <p:nvPr>
            <p:ph idx="6" type="subTitle"/>
          </p:nvPr>
        </p:nvSpPr>
        <p:spPr>
          <a:xfrm>
            <a:off x="5831000" y="125600"/>
            <a:ext cx="30627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Actions to take for next sprint</a:t>
            </a:r>
            <a:endParaRPr/>
          </a:p>
        </p:txBody>
      </p:sp>
      <p:sp>
        <p:nvSpPr>
          <p:cNvPr id="727" name="Google Shape;727;p7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74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733" name="Google Shape;733;p74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Assignments</a:t>
            </a:r>
            <a:endParaRPr/>
          </a:p>
        </p:txBody>
      </p:sp>
      <p:sp>
        <p:nvSpPr>
          <p:cNvPr id="734" name="Google Shape;734;p74"/>
          <p:cNvSpPr txBox="1"/>
          <p:nvPr>
            <p:ph type="title"/>
          </p:nvPr>
        </p:nvSpPr>
        <p:spPr>
          <a:xfrm>
            <a:off x="122600" y="125600"/>
            <a:ext cx="77601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Assignments for Next Sprint</a:t>
            </a:r>
            <a:endParaRPr/>
          </a:p>
        </p:txBody>
      </p:sp>
      <p:sp>
        <p:nvSpPr>
          <p:cNvPr id="735" name="Google Shape;735;p74"/>
          <p:cNvSpPr/>
          <p:nvPr/>
        </p:nvSpPr>
        <p:spPr>
          <a:xfrm rot="-1151">
            <a:off x="2642825" y="1487633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Making existing features work in </a:t>
            </a: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congruence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74"/>
          <p:cNvSpPr/>
          <p:nvPr/>
        </p:nvSpPr>
        <p:spPr>
          <a:xfrm rot="-1151">
            <a:off x="2642850" y="2833123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Backend logic and APIs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74"/>
          <p:cNvSpPr/>
          <p:nvPr/>
        </p:nvSpPr>
        <p:spPr>
          <a:xfrm rot="-1151">
            <a:off x="2642848" y="2166551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Drag-and-Drop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8" name="Google Shape;738;p74" title="danielcalle_pfp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288" l="0" r="0" t="288"/>
          <a:stretch/>
        </p:blipFill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</p:spPr>
      </p:pic>
      <p:pic>
        <p:nvPicPr>
          <p:cNvPr id="739" name="Google Shape;739;p74" title="1757534454029.jpg"/>
          <p:cNvPicPr preferRelativeResize="0"/>
          <p:nvPr>
            <p:ph idx="15" type="pic"/>
          </p:nvPr>
        </p:nvPicPr>
        <p:blipFill rotWithShape="1">
          <a:blip r:embed="rId4">
            <a:alphaModFix/>
          </a:blip>
          <a:srcRect b="288" l="0" r="0" t="288"/>
          <a:stretch/>
        </p:blipFill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</p:spPr>
      </p:pic>
      <p:pic>
        <p:nvPicPr>
          <p:cNvPr id="740" name="Google Shape;740;p74" title="lancetieng_pfp.png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288" l="0" r="0" t="288"/>
          <a:stretch/>
        </p:blipFill>
        <p:spPr>
          <a:xfrm>
            <a:off x="1943200" y="2724984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741" name="Google Shape;741;p7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2" name="Google Shape;742;p74"/>
          <p:cNvSpPr txBox="1"/>
          <p:nvPr>
            <p:ph type="title"/>
          </p:nvPr>
        </p:nvSpPr>
        <p:spPr>
          <a:xfrm>
            <a:off x="344575" y="1484950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Daniel Calle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43" name="Google Shape;743;p74"/>
          <p:cNvSpPr txBox="1"/>
          <p:nvPr>
            <p:ph idx="7" type="title"/>
          </p:nvPr>
        </p:nvSpPr>
        <p:spPr>
          <a:xfrm>
            <a:off x="344577" y="2163700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Ivan Kwok</a:t>
            </a:r>
            <a:endParaRPr/>
          </a:p>
        </p:txBody>
      </p:sp>
      <p:sp>
        <p:nvSpPr>
          <p:cNvPr id="744" name="Google Shape;744;p74"/>
          <p:cNvSpPr txBox="1"/>
          <p:nvPr>
            <p:ph idx="5" type="subTitle"/>
          </p:nvPr>
        </p:nvSpPr>
        <p:spPr>
          <a:xfrm>
            <a:off x="344577" y="1661300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Team Lead - Full-stack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5" name="Google Shape;745;p74"/>
          <p:cNvSpPr txBox="1"/>
          <p:nvPr>
            <p:ph idx="8" type="subTitle"/>
          </p:nvPr>
        </p:nvSpPr>
        <p:spPr>
          <a:xfrm>
            <a:off x="344577" y="2340050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Front-end - Drag-and-Drop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6" name="Google Shape;746;p74"/>
          <p:cNvSpPr txBox="1"/>
          <p:nvPr>
            <p:ph idx="14" type="subTitle"/>
          </p:nvPr>
        </p:nvSpPr>
        <p:spPr>
          <a:xfrm>
            <a:off x="344577" y="3019400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Back-end - Database and logic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47" name="Google Shape;747;p74"/>
          <p:cNvSpPr txBox="1"/>
          <p:nvPr>
            <p:ph idx="13" type="title"/>
          </p:nvPr>
        </p:nvSpPr>
        <p:spPr>
          <a:xfrm>
            <a:off x="344577" y="2843050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Lance Tieng</a:t>
            </a:r>
            <a:endParaRPr/>
          </a:p>
        </p:txBody>
      </p:sp>
      <p:sp>
        <p:nvSpPr>
          <p:cNvPr id="748" name="Google Shape;748;p74"/>
          <p:cNvSpPr/>
          <p:nvPr/>
        </p:nvSpPr>
        <p:spPr>
          <a:xfrm>
            <a:off x="2466950" y="3567425"/>
            <a:ext cx="6476700" cy="983100"/>
          </a:xfrm>
          <a:prstGeom prst="rect">
            <a:avLst/>
          </a:prstGeom>
          <a:solidFill>
            <a:srgbClr val="F6F6F1"/>
          </a:solidFill>
          <a:ln cap="flat" cmpd="sng" w="9525">
            <a:solidFill>
              <a:srgbClr val="F6F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74"/>
          <p:cNvSpPr/>
          <p:nvPr/>
        </p:nvSpPr>
        <p:spPr>
          <a:xfrm rot="-1151">
            <a:off x="4808900" y="2833123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binding to fields in components on the canvas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74"/>
          <p:cNvSpPr/>
          <p:nvPr/>
        </p:nvSpPr>
        <p:spPr>
          <a:xfrm rot="-1151">
            <a:off x="6974950" y="2833123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“Mail-merge” export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74"/>
          <p:cNvSpPr/>
          <p:nvPr/>
        </p:nvSpPr>
        <p:spPr>
          <a:xfrm rot="-1151">
            <a:off x="4808900" y="1487633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Check-in with client to make sure we are on the right track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74"/>
          <p:cNvSpPr/>
          <p:nvPr/>
        </p:nvSpPr>
        <p:spPr>
          <a:xfrm rot="-1151">
            <a:off x="4808898" y="2160376"/>
            <a:ext cx="1792800" cy="329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Finalizing front-end design</a:t>
            </a:r>
            <a:endParaRPr b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5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WSU Capstone: 12-FA25-SP26-VI-WEB</a:t>
            </a:r>
            <a:endParaRPr/>
          </a:p>
        </p:txBody>
      </p:sp>
      <p:sp>
        <p:nvSpPr>
          <p:cNvPr id="758" name="Google Shape;758;p75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Next Steps</a:t>
            </a:r>
            <a:endParaRPr/>
          </a:p>
        </p:txBody>
      </p:sp>
      <p:sp>
        <p:nvSpPr>
          <p:cNvPr id="759" name="Google Shape;759;p75"/>
          <p:cNvSpPr txBox="1"/>
          <p:nvPr>
            <p:ph type="title"/>
          </p:nvPr>
        </p:nvSpPr>
        <p:spPr>
          <a:xfrm>
            <a:off x="125700" y="125600"/>
            <a:ext cx="2515800" cy="43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Summary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a</a:t>
            </a:r>
            <a:r>
              <a:rPr lang="en" sz="3300"/>
              <a:t>nd 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Next Steps</a:t>
            </a:r>
            <a:endParaRPr sz="3300"/>
          </a:p>
        </p:txBody>
      </p:sp>
      <p:sp>
        <p:nvSpPr>
          <p:cNvPr id="760" name="Google Shape;760;p75"/>
          <p:cNvSpPr txBox="1"/>
          <p:nvPr>
            <p:ph idx="1" type="subTitle"/>
          </p:nvPr>
        </p:nvSpPr>
        <p:spPr>
          <a:xfrm>
            <a:off x="2963075" y="132500"/>
            <a:ext cx="2791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761" name="Google Shape;761;p75"/>
          <p:cNvSpPr txBox="1"/>
          <p:nvPr>
            <p:ph idx="2" type="subTitle"/>
          </p:nvPr>
        </p:nvSpPr>
        <p:spPr>
          <a:xfrm>
            <a:off x="6502400" y="125600"/>
            <a:ext cx="24537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762" name="Google Shape;762;p75"/>
          <p:cNvSpPr txBox="1"/>
          <p:nvPr>
            <p:ph idx="3" type="body"/>
          </p:nvPr>
        </p:nvSpPr>
        <p:spPr>
          <a:xfrm>
            <a:off x="2963075" y="773325"/>
            <a:ext cx="27423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improved since our last sprint, </a:t>
            </a:r>
            <a:r>
              <a:rPr lang="en"/>
              <a:t>implementing</a:t>
            </a:r>
            <a:r>
              <a:rPr lang="en"/>
              <a:t> various key features and setting a good foundation for future development.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expectations have continuously been met, and feedback has been taken and used to create better code.</a:t>
            </a:r>
            <a:endParaRPr/>
          </a:p>
        </p:txBody>
      </p:sp>
      <p:sp>
        <p:nvSpPr>
          <p:cNvPr id="763" name="Google Shape;763;p75"/>
          <p:cNvSpPr txBox="1"/>
          <p:nvPr>
            <p:ph idx="4" type="body"/>
          </p:nvPr>
        </p:nvSpPr>
        <p:spPr>
          <a:xfrm>
            <a:off x="6502400" y="773325"/>
            <a:ext cx="25158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plan to continue </a:t>
            </a:r>
            <a:r>
              <a:rPr lang="en"/>
              <a:t>receiving</a:t>
            </a:r>
            <a:r>
              <a:rPr lang="en"/>
              <a:t> feedback from our clients and continue to iterate new features as we move </a:t>
            </a:r>
            <a:r>
              <a:rPr lang="en"/>
              <a:t>through</a:t>
            </a:r>
            <a:r>
              <a:rPr lang="en"/>
              <a:t> sprint 3.</a:t>
            </a:r>
            <a:endParaRPr/>
          </a:p>
        </p:txBody>
      </p:sp>
      <p:sp>
        <p:nvSpPr>
          <p:cNvPr id="764" name="Google Shape;764;p7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6"/>
          <p:cNvSpPr txBox="1"/>
          <p:nvPr>
            <p:ph type="title"/>
          </p:nvPr>
        </p:nvSpPr>
        <p:spPr>
          <a:xfrm>
            <a:off x="125700" y="3233475"/>
            <a:ext cx="87681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70" name="Google Shape;770;p76"/>
          <p:cNvSpPr txBox="1"/>
          <p:nvPr>
            <p:ph idx="4294967295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